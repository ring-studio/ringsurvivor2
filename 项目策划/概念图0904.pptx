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6" r:id="rId3"/>
    <p:sldId id="263" r:id="rId4"/>
    <p:sldId id="264" r:id="rId5"/>
    <p:sldId id="265" r:id="rId6"/>
    <p:sldId id="266" r:id="rId7"/>
    <p:sldId id="258" r:id="rId8"/>
    <p:sldId id="259" r:id="rId9"/>
    <p:sldId id="260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19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B14F4-108D-455F-A99E-21963D859E39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9666A-E5DA-42D1-9DE5-BA3D9A871D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91539-990F-4D47-B999-CE20A4D9F7C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3CCC5-3A3E-4737-88F0-C61B1CDD07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7683" y="5010365"/>
            <a:ext cx="35060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与车型预览图交互进入载具编辑界面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车型预览图随当前选中车型改变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与科技处交互进入被动升级界面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与</a:t>
            </a:r>
            <a:r>
              <a:rPr lang="en-US" altLang="zh-CN" sz="1400" dirty="0"/>
              <a:t>NPC</a:t>
            </a:r>
            <a:r>
              <a:rPr lang="zh-CN" altLang="en-US" sz="1400" dirty="0"/>
              <a:t>交互以进行对话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越过出发检测线进入任务选择界面</a:t>
            </a:r>
            <a:endParaRPr lang="en-US" altLang="zh-CN" sz="1400" dirty="0"/>
          </a:p>
        </p:txBody>
      </p:sp>
      <p:sp>
        <p:nvSpPr>
          <p:cNvPr id="10" name="矩形 9"/>
          <p:cNvSpPr/>
          <p:nvPr/>
        </p:nvSpPr>
        <p:spPr>
          <a:xfrm>
            <a:off x="0" y="33160"/>
            <a:ext cx="30701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军营场景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3204399" y="1216403"/>
            <a:ext cx="1988191" cy="1372567"/>
          </a:xfrm>
          <a:prstGeom prst="triangle">
            <a:avLst>
              <a:gd name="adj" fmla="val 48734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装饰物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986315" y="1531695"/>
            <a:ext cx="2066925" cy="105727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配车间</a:t>
            </a:r>
          </a:p>
        </p:txBody>
      </p:sp>
      <p:sp>
        <p:nvSpPr>
          <p:cNvPr id="13" name="右箭头 12"/>
          <p:cNvSpPr/>
          <p:nvPr/>
        </p:nvSpPr>
        <p:spPr>
          <a:xfrm>
            <a:off x="9588616" y="3305263"/>
            <a:ext cx="1166070" cy="78017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出发</a:t>
            </a:r>
          </a:p>
        </p:txBody>
      </p:sp>
      <p:sp>
        <p:nvSpPr>
          <p:cNvPr id="14" name="矩形 13"/>
          <p:cNvSpPr/>
          <p:nvPr/>
        </p:nvSpPr>
        <p:spPr>
          <a:xfrm>
            <a:off x="318782" y="2588970"/>
            <a:ext cx="931178" cy="19830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科技处</a:t>
            </a:r>
          </a:p>
        </p:txBody>
      </p:sp>
      <p:sp>
        <p:nvSpPr>
          <p:cNvPr id="15" name="矩形 14"/>
          <p:cNvSpPr/>
          <p:nvPr/>
        </p:nvSpPr>
        <p:spPr>
          <a:xfrm>
            <a:off x="75501" y="763398"/>
            <a:ext cx="10771464" cy="42469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3188941" y="2530962"/>
            <a:ext cx="336835" cy="45300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182146" y="2351433"/>
            <a:ext cx="347308" cy="3473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>
            <a:off x="5461640" y="2525087"/>
            <a:ext cx="336835" cy="45300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54845" y="2345558"/>
            <a:ext cx="347308" cy="3473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038834" y="1976226"/>
            <a:ext cx="62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NPC</a:t>
            </a:r>
            <a:endParaRPr lang="zh-CN" altLang="en-US" dirty="0"/>
          </a:p>
        </p:txBody>
      </p:sp>
      <p:sp>
        <p:nvSpPr>
          <p:cNvPr id="23" name="等腰三角形 22"/>
          <p:cNvSpPr/>
          <p:nvPr/>
        </p:nvSpPr>
        <p:spPr>
          <a:xfrm>
            <a:off x="2096219" y="1846053"/>
            <a:ext cx="1074800" cy="730489"/>
          </a:xfrm>
          <a:prstGeom prst="triangle">
            <a:avLst>
              <a:gd name="adj" fmla="val 48734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1">
            <a:extLst>
              <a:ext uri="{FF2B5EF4-FFF2-40B4-BE49-F238E27FC236}">
                <a16:creationId xmlns:a16="http://schemas.microsoft.com/office/drawing/2014/main" id="{9639B175-0116-49B6-B676-CD726B5C45BD}"/>
              </a:ext>
            </a:extLst>
          </p:cNvPr>
          <p:cNvSpPr/>
          <p:nvPr/>
        </p:nvSpPr>
        <p:spPr>
          <a:xfrm>
            <a:off x="3959941" y="3378992"/>
            <a:ext cx="1166070" cy="59793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用于存档的东西（自行想象）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6725" y="3299891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7683" y="5010365"/>
            <a:ext cx="75328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选择列表只显示当前选中类型部件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如当前选中配件栏则列表只显示配件，选中主武栏则列表只显示主武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鼠标悬浮在购买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卸下按钮上时更新数值预览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选择列表中未购买的部件灰色表示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未解锁的车型界面除了一个解锁按钮其他均无法操作，整体暗色</a:t>
            </a:r>
            <a:r>
              <a:rPr lang="en-US" altLang="zh-CN" sz="1400" dirty="0"/>
              <a:t>modulate</a:t>
            </a:r>
            <a:r>
              <a:rPr lang="zh-CN" altLang="en-US" sz="1400" dirty="0"/>
              <a:t>以示无法操作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车型名称、数值预览 更新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更换车型后连同部件一起更换，即每种车型都要在存档里保存目前（或上次）的配置方案</a:t>
            </a:r>
            <a:endParaRPr lang="en-US" altLang="zh-CN" sz="1400" dirty="0"/>
          </a:p>
          <a:p>
            <a:endParaRPr lang="en-US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5608320" y="2705101"/>
            <a:ext cx="99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部件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515100" y="25666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部件名称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01640" y="3429000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</a:t>
            </a:r>
            <a:r>
              <a:rPr lang="en-US" altLang="zh-CN" sz="1200" dirty="0"/>
              <a:t>    </a:t>
            </a:r>
            <a:r>
              <a:rPr lang="zh-CN" altLang="en-US" sz="1200" dirty="0"/>
              <a:t>件    描    述</a:t>
            </a:r>
          </a:p>
        </p:txBody>
      </p:sp>
      <p:sp>
        <p:nvSpPr>
          <p:cNvPr id="8" name="矩形 7"/>
          <p:cNvSpPr/>
          <p:nvPr/>
        </p:nvSpPr>
        <p:spPr>
          <a:xfrm>
            <a:off x="7434234" y="4400131"/>
            <a:ext cx="716280" cy="304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33160"/>
            <a:ext cx="30701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载具编辑界面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87934" y="244898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16" name="右箭头 15"/>
          <p:cNvSpPr/>
          <p:nvPr/>
        </p:nvSpPr>
        <p:spPr>
          <a:xfrm>
            <a:off x="4039752" y="2748541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617683" y="2720489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61664" y="8266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20" name="矩形 19"/>
          <p:cNvSpPr/>
          <p:nvPr/>
        </p:nvSpPr>
        <p:spPr>
          <a:xfrm>
            <a:off x="2066093" y="3133620"/>
            <a:ext cx="964539" cy="33254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解锁按钮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6725" y="3299891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7683" y="5010365"/>
            <a:ext cx="75328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选择列表只显示当前选中类型部件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如当前选中配件栏则列表只显示配件，选中主武栏则列表只显示主武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鼠标悬浮在购买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卸下按钮上时更新数值预览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选择列表中未购买的部件灰色表示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未解锁的车型界面除了一个解锁按钮其他均无法操作，整体暗色</a:t>
            </a:r>
            <a:r>
              <a:rPr lang="en-US" altLang="zh-CN" sz="1400" dirty="0"/>
              <a:t>modulate</a:t>
            </a:r>
            <a:r>
              <a:rPr lang="zh-CN" altLang="en-US" sz="1400" dirty="0"/>
              <a:t>以示无法操作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车型名称、数值预览 更新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更换车型后连同部件一起更换，即每种车型都要在存档里保存目前（或上次）的配置方案</a:t>
            </a:r>
            <a:endParaRPr lang="en-US" altLang="zh-CN" sz="1400" dirty="0"/>
          </a:p>
          <a:p>
            <a:endParaRPr lang="en-US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5608320" y="2705101"/>
            <a:ext cx="9982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机炮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515100" y="2566601"/>
            <a:ext cx="487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机炮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01640" y="3429000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</a:t>
            </a:r>
            <a:r>
              <a:rPr lang="en-US" altLang="zh-CN" sz="1200" dirty="0"/>
              <a:t>    </a:t>
            </a:r>
            <a:r>
              <a:rPr lang="zh-CN" altLang="en-US" sz="1200" dirty="0"/>
              <a:t>件    描    述</a:t>
            </a:r>
          </a:p>
        </p:txBody>
      </p:sp>
      <p:sp>
        <p:nvSpPr>
          <p:cNvPr id="8" name="矩形 7"/>
          <p:cNvSpPr/>
          <p:nvPr/>
        </p:nvSpPr>
        <p:spPr>
          <a:xfrm>
            <a:off x="7434234" y="4400131"/>
            <a:ext cx="716280" cy="304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33020"/>
            <a:ext cx="736473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载具编辑界面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选中主武器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机炮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87934" y="244898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16" name="右箭头 15"/>
          <p:cNvSpPr/>
          <p:nvPr/>
        </p:nvSpPr>
        <p:spPr>
          <a:xfrm>
            <a:off x="4039752" y="2748541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617683" y="2720489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61664" y="8266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20" name="矩形 19"/>
          <p:cNvSpPr/>
          <p:nvPr/>
        </p:nvSpPr>
        <p:spPr>
          <a:xfrm>
            <a:off x="2066093" y="3133620"/>
            <a:ext cx="964539" cy="33254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解锁按钮</a:t>
            </a:r>
          </a:p>
        </p:txBody>
      </p:sp>
      <p:sp>
        <p:nvSpPr>
          <p:cNvPr id="9" name="矩形 8"/>
          <p:cNvSpPr/>
          <p:nvPr/>
        </p:nvSpPr>
        <p:spPr>
          <a:xfrm>
            <a:off x="1065530" y="3801110"/>
            <a:ext cx="838200" cy="7480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486275" y="2759075"/>
            <a:ext cx="684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榴弹炮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16120" y="3066415"/>
            <a:ext cx="684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机炮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16120" y="3351530"/>
            <a:ext cx="684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导弹</a:t>
            </a:r>
          </a:p>
        </p:txBody>
      </p:sp>
      <p:sp>
        <p:nvSpPr>
          <p:cNvPr id="14" name="矩形 13"/>
          <p:cNvSpPr/>
          <p:nvPr/>
        </p:nvSpPr>
        <p:spPr>
          <a:xfrm>
            <a:off x="4516120" y="3026410"/>
            <a:ext cx="580390" cy="3251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6725" y="3299891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7683" y="5010365"/>
            <a:ext cx="75328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选择列表只显示当前选中类型部件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如当前选中配件栏则列表只显示配件，选中主武栏则列表只显示主武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鼠标悬浮在购买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卸下按钮上时更新数值预览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选择列表中未购买的部件灰色表示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未解锁的车型界面除了一个解锁按钮其他均无法操作，整体暗色</a:t>
            </a:r>
            <a:r>
              <a:rPr lang="en-US" altLang="zh-CN" sz="1400" dirty="0"/>
              <a:t>modulate</a:t>
            </a:r>
            <a:r>
              <a:rPr lang="zh-CN" altLang="en-US" sz="1400" dirty="0"/>
              <a:t>以示无法操作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车型名称、数值预览 更新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更换车型后连同部件一起更换，即每种车型都要在存档里保存目前（或上次）的配置方案</a:t>
            </a:r>
            <a:endParaRPr lang="en-US" altLang="zh-CN" sz="1400" dirty="0"/>
          </a:p>
          <a:p>
            <a:endParaRPr lang="en-US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5608320" y="2705101"/>
            <a:ext cx="99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部件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515100" y="25666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部件名称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01640" y="3429000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</a:t>
            </a:r>
            <a:r>
              <a:rPr lang="en-US" altLang="zh-CN" sz="1200" dirty="0"/>
              <a:t>    </a:t>
            </a:r>
            <a:r>
              <a:rPr lang="zh-CN" altLang="en-US" sz="1200" dirty="0"/>
              <a:t>件    描    述</a:t>
            </a:r>
          </a:p>
        </p:txBody>
      </p:sp>
      <p:sp>
        <p:nvSpPr>
          <p:cNvPr id="8" name="矩形 7"/>
          <p:cNvSpPr/>
          <p:nvPr/>
        </p:nvSpPr>
        <p:spPr>
          <a:xfrm>
            <a:off x="7434234" y="4400131"/>
            <a:ext cx="716280" cy="304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33020"/>
            <a:ext cx="736473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载具编辑界面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选中装甲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87934" y="244898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16" name="右箭头 15"/>
          <p:cNvSpPr/>
          <p:nvPr/>
        </p:nvSpPr>
        <p:spPr>
          <a:xfrm>
            <a:off x="4039752" y="2748541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617683" y="2720489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61664" y="8266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20" name="矩形 19"/>
          <p:cNvSpPr/>
          <p:nvPr/>
        </p:nvSpPr>
        <p:spPr>
          <a:xfrm>
            <a:off x="2066093" y="3133620"/>
            <a:ext cx="964539" cy="33254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解锁按钮</a:t>
            </a:r>
          </a:p>
        </p:txBody>
      </p:sp>
      <p:sp>
        <p:nvSpPr>
          <p:cNvPr id="9" name="矩形 8"/>
          <p:cNvSpPr/>
          <p:nvPr/>
        </p:nvSpPr>
        <p:spPr>
          <a:xfrm>
            <a:off x="3201670" y="3801110"/>
            <a:ext cx="838200" cy="7480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486275" y="2759075"/>
            <a:ext cx="684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均质钢装甲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461510" y="3210560"/>
            <a:ext cx="8477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复合装甲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461510" y="3486150"/>
            <a:ext cx="8477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轻型材料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6725" y="3299891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7683" y="5010365"/>
            <a:ext cx="75328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选择列表只显示当前选中类型部件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如当前选中配件栏则列表只显示配件，选中主武栏则列表只显示主武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鼠标悬浮在购买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卸下按钮上时更新数值预览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选择列表中未购买的部件灰色表示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未解锁的车型界面除了一个解锁按钮其他均无法操作，整体暗色</a:t>
            </a:r>
            <a:r>
              <a:rPr lang="en-US" altLang="zh-CN" sz="1400" dirty="0"/>
              <a:t>modulate</a:t>
            </a:r>
            <a:r>
              <a:rPr lang="zh-CN" altLang="en-US" sz="1400" dirty="0"/>
              <a:t>以示无法操作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车型名称、数值预览 更新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更换车型后连同部件一起更换，即每种车型都要在存档里保存目前（或上次）的配置方案</a:t>
            </a:r>
            <a:endParaRPr lang="en-US" altLang="zh-CN" sz="1400" dirty="0"/>
          </a:p>
          <a:p>
            <a:endParaRPr lang="en-US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5608320" y="2705101"/>
            <a:ext cx="99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部件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515100" y="25666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部件名称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01640" y="3429000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</a:t>
            </a:r>
            <a:r>
              <a:rPr lang="en-US" altLang="zh-CN" sz="1200" dirty="0"/>
              <a:t>    </a:t>
            </a:r>
            <a:r>
              <a:rPr lang="zh-CN" altLang="en-US" sz="1200" dirty="0"/>
              <a:t>件    描    述</a:t>
            </a:r>
          </a:p>
        </p:txBody>
      </p:sp>
      <p:sp>
        <p:nvSpPr>
          <p:cNvPr id="8" name="矩形 7"/>
          <p:cNvSpPr/>
          <p:nvPr/>
        </p:nvSpPr>
        <p:spPr>
          <a:xfrm>
            <a:off x="7434234" y="4400131"/>
            <a:ext cx="716280" cy="304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</a:t>
            </a:r>
            <a:r>
              <a:rPr lang="en-US" altLang="zh-CN" sz="1400" dirty="0"/>
              <a:t>/</a:t>
            </a:r>
            <a:r>
              <a:rPr lang="zh-CN" altLang="en-US" sz="1400" dirty="0"/>
              <a:t>装备</a:t>
            </a:r>
            <a:r>
              <a:rPr lang="en-US" altLang="zh-CN" sz="1400" dirty="0"/>
              <a:t>/</a:t>
            </a:r>
            <a:r>
              <a:rPr lang="zh-CN" altLang="en-US" sz="1400" dirty="0"/>
              <a:t>卸下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33020"/>
            <a:ext cx="736473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载具编辑界面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选中主武器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87934" y="244898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16" name="右箭头 15"/>
          <p:cNvSpPr/>
          <p:nvPr/>
        </p:nvSpPr>
        <p:spPr>
          <a:xfrm>
            <a:off x="4039752" y="2748541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617683" y="2720489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61664" y="8266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20" name="矩形 19"/>
          <p:cNvSpPr/>
          <p:nvPr/>
        </p:nvSpPr>
        <p:spPr>
          <a:xfrm>
            <a:off x="2066093" y="3133620"/>
            <a:ext cx="964539" cy="33254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解锁按钮</a:t>
            </a:r>
          </a:p>
        </p:txBody>
      </p:sp>
      <p:sp>
        <p:nvSpPr>
          <p:cNvPr id="9" name="矩形 8"/>
          <p:cNvSpPr/>
          <p:nvPr/>
        </p:nvSpPr>
        <p:spPr>
          <a:xfrm>
            <a:off x="1694180" y="1182370"/>
            <a:ext cx="838200" cy="7480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516120" y="2759075"/>
            <a:ext cx="684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配件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16120" y="3066415"/>
            <a:ext cx="684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配件</a:t>
            </a:r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16120" y="3351530"/>
            <a:ext cx="684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。。。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3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6725" y="3299891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7683" y="5010365"/>
            <a:ext cx="60404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解锁车型和解锁部件需要花费能量，所需能量显示在解锁按钮，如图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解锁车型后才能操作当前车型的配件栏、主武、装甲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未解锁时所有栏位上锁，此时操作右边“装备、卸下”无效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如图左侧所示。解锁车型后撤去左侧界面的所有锁</a:t>
            </a:r>
            <a:r>
              <a:rPr lang="en-US" altLang="zh-CN" sz="1400" dirty="0"/>
              <a:t>UI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部件未解锁时，部件</a:t>
            </a:r>
            <a:r>
              <a:rPr lang="en-US" altLang="zh-CN" sz="1400" dirty="0"/>
              <a:t>icon</a:t>
            </a:r>
            <a:r>
              <a:rPr lang="zh-CN" altLang="en-US" sz="1400" dirty="0"/>
              <a:t>上显示锁，解锁后撤去</a:t>
            </a:r>
            <a:endParaRPr lang="en-US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5608320" y="2705101"/>
            <a:ext cx="99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部件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515100" y="25666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部件名称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01640" y="3429000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部</a:t>
            </a:r>
            <a:r>
              <a:rPr lang="en-US" altLang="zh-CN" sz="1200" dirty="0"/>
              <a:t>    </a:t>
            </a:r>
            <a:r>
              <a:rPr lang="zh-CN" altLang="en-US" sz="1200" dirty="0"/>
              <a:t>件    描    述</a:t>
            </a:r>
          </a:p>
        </p:txBody>
      </p:sp>
      <p:sp>
        <p:nvSpPr>
          <p:cNvPr id="8" name="矩形 7"/>
          <p:cNvSpPr/>
          <p:nvPr/>
        </p:nvSpPr>
        <p:spPr>
          <a:xfrm>
            <a:off x="7434234" y="4400131"/>
            <a:ext cx="716280" cy="304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100</a:t>
            </a:r>
            <a:r>
              <a:rPr lang="zh-CN" altLang="en-US" sz="1100" dirty="0"/>
              <a:t>能量</a:t>
            </a:r>
            <a:endParaRPr lang="en-US" altLang="zh-CN" sz="1100" dirty="0"/>
          </a:p>
        </p:txBody>
      </p:sp>
      <p:sp>
        <p:nvSpPr>
          <p:cNvPr id="10" name="矩形 9"/>
          <p:cNvSpPr/>
          <p:nvPr/>
        </p:nvSpPr>
        <p:spPr>
          <a:xfrm>
            <a:off x="-1" y="33160"/>
            <a:ext cx="69003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载具编辑界面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能量花费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87934" y="244898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16" name="右箭头 15"/>
          <p:cNvSpPr/>
          <p:nvPr/>
        </p:nvSpPr>
        <p:spPr>
          <a:xfrm>
            <a:off x="4039752" y="2748541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617683" y="2720489"/>
            <a:ext cx="436228" cy="317791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61664" y="8266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20" name="矩形 19"/>
          <p:cNvSpPr/>
          <p:nvPr/>
        </p:nvSpPr>
        <p:spPr>
          <a:xfrm>
            <a:off x="2066093" y="3133620"/>
            <a:ext cx="964539" cy="33218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1000</a:t>
            </a:r>
            <a:r>
              <a:rPr lang="zh-CN" altLang="en-US" sz="1400" dirty="0"/>
              <a:t>能量</a:t>
            </a:r>
            <a:endParaRPr lang="en-US" altLang="zh-CN" sz="1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8451A53-7601-409A-8599-2714C0D77F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362" y="1425072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0DC3B4A-DAF4-4D27-83BA-CDE2D80D74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93" y="1440748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54CF858-7576-4BF7-8F0C-03CBC03FBA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28" y="1415208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35837BE-14D5-4F04-9D45-70C3AEA78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056" y="1423895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A80402B-4A9E-4198-9DC0-4C268E651E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625" y="2775318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C4D5B7E-7694-4363-8366-245D8C9DAD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138" y="4051831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4B374C8-39AE-48C6-AE6F-8B88DAFAA0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185" y="4071301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E481A30-7B47-4FA6-99CB-9AAE5F9303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225" y="2739534"/>
            <a:ext cx="208131" cy="208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597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9244" y="4895162"/>
            <a:ext cx="392126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选项升级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初始为</a:t>
            </a:r>
            <a:r>
              <a:rPr lang="en-US" altLang="zh-CN" sz="1400" dirty="0"/>
              <a:t>lv0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每次升级花费可能不同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升至满级后升级按钮</a:t>
            </a:r>
            <a:r>
              <a:rPr lang="en-US" altLang="zh-CN" sz="1400" dirty="0"/>
              <a:t>text</a:t>
            </a:r>
            <a:r>
              <a:rPr lang="zh-CN" altLang="en-US" sz="1400" dirty="0"/>
              <a:t>改为“已满级”</a:t>
            </a:r>
            <a:endParaRPr lang="en-US" altLang="zh-CN" sz="1400" dirty="0"/>
          </a:p>
        </p:txBody>
      </p:sp>
      <p:sp>
        <p:nvSpPr>
          <p:cNvPr id="10" name="矩形 9"/>
          <p:cNvSpPr/>
          <p:nvPr/>
        </p:nvSpPr>
        <p:spPr>
          <a:xfrm>
            <a:off x="0" y="33160"/>
            <a:ext cx="30701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科技处界面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631563" y="3693106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25" name="矩形 24"/>
          <p:cNvSpPr/>
          <p:nvPr/>
        </p:nvSpPr>
        <p:spPr>
          <a:xfrm>
            <a:off x="617683" y="813298"/>
            <a:ext cx="7075955" cy="38616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277029" y="1626754"/>
            <a:ext cx="1457864" cy="2389517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装饰</a:t>
            </a:r>
          </a:p>
        </p:txBody>
      </p:sp>
      <p:sp>
        <p:nvSpPr>
          <p:cNvPr id="12" name="矩形 11"/>
          <p:cNvSpPr/>
          <p:nvPr/>
        </p:nvSpPr>
        <p:spPr>
          <a:xfrm>
            <a:off x="3131286" y="1038279"/>
            <a:ext cx="4270177" cy="330115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88877" y="959926"/>
            <a:ext cx="872454" cy="3512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返回</a:t>
            </a:r>
          </a:p>
        </p:txBody>
      </p:sp>
      <p:sp>
        <p:nvSpPr>
          <p:cNvPr id="13" name="矩形 12"/>
          <p:cNvSpPr/>
          <p:nvPr/>
        </p:nvSpPr>
        <p:spPr>
          <a:xfrm>
            <a:off x="3510951" y="1311215"/>
            <a:ext cx="629728" cy="3881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科技选项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41" name="矩形 40"/>
          <p:cNvSpPr/>
          <p:nvPr/>
        </p:nvSpPr>
        <p:spPr>
          <a:xfrm>
            <a:off x="4352361" y="1311214"/>
            <a:ext cx="629728" cy="3881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科技选项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46" name="矩形 45"/>
          <p:cNvSpPr/>
          <p:nvPr/>
        </p:nvSpPr>
        <p:spPr>
          <a:xfrm>
            <a:off x="5193772" y="1315528"/>
            <a:ext cx="629728" cy="3881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科技选项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47" name="矩形 46"/>
          <p:cNvSpPr/>
          <p:nvPr/>
        </p:nvSpPr>
        <p:spPr>
          <a:xfrm>
            <a:off x="6035182" y="1311214"/>
            <a:ext cx="629728" cy="3881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科技选项</a:t>
            </a:r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48" name="矩形 47"/>
          <p:cNvSpPr/>
          <p:nvPr/>
        </p:nvSpPr>
        <p:spPr>
          <a:xfrm>
            <a:off x="3510951" y="1919665"/>
            <a:ext cx="629728" cy="3881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科技选项</a:t>
            </a:r>
            <a:r>
              <a:rPr lang="en-US" altLang="zh-CN" sz="1200" dirty="0"/>
              <a:t>5</a:t>
            </a:r>
            <a:endParaRPr lang="zh-CN" altLang="en-US" sz="1200" dirty="0"/>
          </a:p>
        </p:txBody>
      </p:sp>
      <p:sp>
        <p:nvSpPr>
          <p:cNvPr id="14" name="矩形 13"/>
          <p:cNvSpPr/>
          <p:nvPr/>
        </p:nvSpPr>
        <p:spPr>
          <a:xfrm>
            <a:off x="6943651" y="1311213"/>
            <a:ext cx="230853" cy="14319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887837" y="1704040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3131286" y="3001992"/>
            <a:ext cx="4270177" cy="8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6420387" y="3877341"/>
            <a:ext cx="872454" cy="3512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100</a:t>
            </a:r>
            <a:r>
              <a:rPr lang="zh-CN" altLang="en-US" sz="1200" dirty="0"/>
              <a:t>能量</a:t>
            </a:r>
          </a:p>
        </p:txBody>
      </p:sp>
      <p:sp>
        <p:nvSpPr>
          <p:cNvPr id="54" name="矩形 53"/>
          <p:cNvSpPr/>
          <p:nvPr/>
        </p:nvSpPr>
        <p:spPr>
          <a:xfrm>
            <a:off x="3304450" y="3140287"/>
            <a:ext cx="629728" cy="3881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科技选项</a:t>
            </a:r>
          </a:p>
          <a:p>
            <a:pPr algn="ctr"/>
            <a:r>
              <a:rPr lang="en-US" altLang="zh-CN" sz="800" dirty="0"/>
              <a:t>icon</a:t>
            </a:r>
            <a:endParaRPr lang="zh-CN" altLang="en-US" sz="1200" dirty="0"/>
          </a:p>
        </p:txBody>
      </p:sp>
      <p:sp>
        <p:nvSpPr>
          <p:cNvPr id="55" name="文本框 54"/>
          <p:cNvSpPr txBox="1"/>
          <p:nvPr/>
        </p:nvSpPr>
        <p:spPr>
          <a:xfrm>
            <a:off x="4112500" y="342003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科技选项信息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34178" y="3101561"/>
            <a:ext cx="1903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科技选项名称</a:t>
            </a:r>
            <a:r>
              <a:rPr lang="en-US" altLang="zh-CN" sz="1600" dirty="0"/>
              <a:t>/</a:t>
            </a:r>
            <a:r>
              <a:rPr lang="zh-CN" altLang="en-US" sz="1600" dirty="0"/>
              <a:t>等级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7D82DF2-9E99-4206-83BA-B83F103D3BE5}"/>
              </a:ext>
            </a:extLst>
          </p:cNvPr>
          <p:cNvCxnSpPr>
            <a:stCxn id="52" idx="3"/>
          </p:cNvCxnSpPr>
          <p:nvPr/>
        </p:nvCxnSpPr>
        <p:spPr>
          <a:xfrm flipV="1">
            <a:off x="7292841" y="3101561"/>
            <a:ext cx="1690581" cy="951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9263CB0-E21A-4B42-A7D9-FA975344FCEF}"/>
              </a:ext>
            </a:extLst>
          </p:cNvPr>
          <p:cNvSpPr txBox="1"/>
          <p:nvPr/>
        </p:nvSpPr>
        <p:spPr>
          <a:xfrm>
            <a:off x="8947739" y="28804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升级按钮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96725" y="3299891"/>
            <a:ext cx="313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滚动条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7682" y="4555438"/>
            <a:ext cx="61991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任务选择界面为地图形式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鼠标悬浮在地点</a:t>
            </a:r>
            <a:r>
              <a:rPr lang="en-US" altLang="zh-CN" sz="1400" dirty="0"/>
              <a:t>icon</a:t>
            </a:r>
            <a:r>
              <a:rPr lang="zh-CN" altLang="en-US" sz="1400" dirty="0"/>
              <a:t>上：显示地点名称并弹出任务信息悬浮窗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悬浮时</a:t>
            </a:r>
            <a:r>
              <a:rPr lang="en-US" altLang="zh-CN" sz="1400" dirty="0"/>
              <a:t>icon outline</a:t>
            </a:r>
            <a:r>
              <a:rPr lang="zh-CN" altLang="en-US" sz="1400" dirty="0"/>
              <a:t>效果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若无任务（或条件未满足），显示当前无任务（或条件未满足）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鼠标点击选中后放大</a:t>
            </a:r>
            <a:r>
              <a:rPr lang="en-US" altLang="zh-CN" sz="1400" dirty="0"/>
              <a:t>camera</a:t>
            </a:r>
            <a:r>
              <a:rPr lang="zh-CN" altLang="en-US" sz="1400" dirty="0"/>
              <a:t>（如右所示），并显示执行</a:t>
            </a:r>
            <a:r>
              <a:rPr lang="en-US" altLang="zh-CN" sz="1400" dirty="0"/>
              <a:t>/</a:t>
            </a:r>
            <a:r>
              <a:rPr lang="zh-CN" altLang="en-US" sz="1400" dirty="0"/>
              <a:t>返回按钮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若无任务（或条件未满足），提示无法选中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点击返回按钮返回到</a:t>
            </a:r>
            <a:r>
              <a:rPr lang="en-US" altLang="zh-CN" sz="1400" dirty="0"/>
              <a:t>UI1</a:t>
            </a:r>
            <a:r>
              <a:rPr lang="zh-CN" altLang="en-US" sz="1400" dirty="0"/>
              <a:t>状态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endParaRPr lang="en-US" altLang="zh-CN" sz="1400" dirty="0"/>
          </a:p>
        </p:txBody>
      </p:sp>
      <p:sp>
        <p:nvSpPr>
          <p:cNvPr id="9" name="矩形 8"/>
          <p:cNvSpPr/>
          <p:nvPr/>
        </p:nvSpPr>
        <p:spPr>
          <a:xfrm>
            <a:off x="5662569" y="3675428"/>
            <a:ext cx="872454" cy="3512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返回军营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33160"/>
            <a:ext cx="30701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任务选择界面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03750" y="23086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20" name="矩形 19"/>
          <p:cNvSpPr/>
          <p:nvPr/>
        </p:nvSpPr>
        <p:spPr>
          <a:xfrm>
            <a:off x="10601396" y="3869594"/>
            <a:ext cx="572086" cy="35196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执行</a:t>
            </a:r>
          </a:p>
        </p:txBody>
      </p:sp>
      <p:sp>
        <p:nvSpPr>
          <p:cNvPr id="11" name="矩形 10"/>
          <p:cNvSpPr/>
          <p:nvPr/>
        </p:nvSpPr>
        <p:spPr>
          <a:xfrm>
            <a:off x="385894" y="679491"/>
            <a:ext cx="6308521" cy="35066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3389" y="13133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地图</a:t>
            </a:r>
          </a:p>
        </p:txBody>
      </p:sp>
      <p:sp>
        <p:nvSpPr>
          <p:cNvPr id="13" name="流程图: 磁盘 12"/>
          <p:cNvSpPr/>
          <p:nvPr/>
        </p:nvSpPr>
        <p:spPr>
          <a:xfrm>
            <a:off x="1979173" y="2205812"/>
            <a:ext cx="843094" cy="771787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磁盘 20"/>
          <p:cNvSpPr/>
          <p:nvPr/>
        </p:nvSpPr>
        <p:spPr>
          <a:xfrm>
            <a:off x="1514752" y="1409344"/>
            <a:ext cx="843094" cy="290237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磁盘 21"/>
          <p:cNvSpPr/>
          <p:nvPr/>
        </p:nvSpPr>
        <p:spPr>
          <a:xfrm rot="20430453">
            <a:off x="631332" y="3296723"/>
            <a:ext cx="896777" cy="235845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线形标注 2 13"/>
          <p:cNvSpPr/>
          <p:nvPr/>
        </p:nvSpPr>
        <p:spPr>
          <a:xfrm>
            <a:off x="3118936" y="1747880"/>
            <a:ext cx="2263357" cy="1229719"/>
          </a:xfrm>
          <a:prstGeom prst="borderCallout2">
            <a:avLst>
              <a:gd name="adj1" fmla="val 18750"/>
              <a:gd name="adj2" fmla="val -281"/>
              <a:gd name="adj3" fmla="val 18750"/>
              <a:gd name="adj4" fmla="val -10053"/>
              <a:gd name="adj5" fmla="val 52502"/>
              <a:gd name="adj6" fmla="val -25388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018998" y="2523840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地点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24" name="文本框 23"/>
          <p:cNvSpPr txBox="1"/>
          <p:nvPr/>
        </p:nvSpPr>
        <p:spPr>
          <a:xfrm>
            <a:off x="3158543" y="178352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任务名称</a:t>
            </a:r>
            <a:endParaRPr lang="en-US" altLang="zh-CN" sz="1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326915" y="210803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任务描述</a:t>
            </a:r>
            <a:endParaRPr lang="en-US" altLang="zh-CN" sz="1400" dirty="0"/>
          </a:p>
        </p:txBody>
      </p:sp>
      <p:sp>
        <p:nvSpPr>
          <p:cNvPr id="26" name="流程图: 磁盘 25"/>
          <p:cNvSpPr/>
          <p:nvPr/>
        </p:nvSpPr>
        <p:spPr>
          <a:xfrm rot="1662077">
            <a:off x="5249089" y="1443107"/>
            <a:ext cx="578829" cy="189264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1366429" y="3870652"/>
            <a:ext cx="536607" cy="3512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返回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259979" y="30049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487556" y="31205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31" name="矩形 30"/>
          <p:cNvSpPr/>
          <p:nvPr/>
        </p:nvSpPr>
        <p:spPr>
          <a:xfrm>
            <a:off x="7612378" y="1783524"/>
            <a:ext cx="4501326" cy="25882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流程图: 磁盘 32"/>
          <p:cNvSpPr/>
          <p:nvPr/>
        </p:nvSpPr>
        <p:spPr>
          <a:xfrm>
            <a:off x="7935402" y="2902112"/>
            <a:ext cx="843094" cy="771787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流程图: 磁盘 33"/>
          <p:cNvSpPr/>
          <p:nvPr/>
        </p:nvSpPr>
        <p:spPr>
          <a:xfrm>
            <a:off x="7470981" y="2105644"/>
            <a:ext cx="843094" cy="290237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流程图: 磁盘 34"/>
          <p:cNvSpPr/>
          <p:nvPr/>
        </p:nvSpPr>
        <p:spPr>
          <a:xfrm rot="20430453">
            <a:off x="6784703" y="4056647"/>
            <a:ext cx="896777" cy="235845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线形标注 2 35"/>
          <p:cNvSpPr/>
          <p:nvPr/>
        </p:nvSpPr>
        <p:spPr>
          <a:xfrm>
            <a:off x="9075165" y="2444180"/>
            <a:ext cx="2263357" cy="1229719"/>
          </a:xfrm>
          <a:prstGeom prst="borderCallout2">
            <a:avLst>
              <a:gd name="adj1" fmla="val 18750"/>
              <a:gd name="adj2" fmla="val -281"/>
              <a:gd name="adj3" fmla="val 18750"/>
              <a:gd name="adj4" fmla="val -10053"/>
              <a:gd name="adj5" fmla="val 52502"/>
              <a:gd name="adj6" fmla="val -25388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975227" y="3220140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地点</a:t>
            </a:r>
            <a:r>
              <a:rPr lang="en-US" altLang="zh-CN" sz="1200" dirty="0"/>
              <a:t>icon</a:t>
            </a:r>
            <a:endParaRPr lang="zh-CN" altLang="en-US" sz="1200" dirty="0"/>
          </a:p>
        </p:txBody>
      </p:sp>
      <p:sp>
        <p:nvSpPr>
          <p:cNvPr id="38" name="文本框 37"/>
          <p:cNvSpPr txBox="1"/>
          <p:nvPr/>
        </p:nvSpPr>
        <p:spPr>
          <a:xfrm>
            <a:off x="9114772" y="247982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任务名称</a:t>
            </a:r>
            <a:endParaRPr lang="en-US" altLang="zh-CN" sz="14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283144" y="280433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任务描述</a:t>
            </a:r>
            <a:endParaRPr lang="en-US" altLang="zh-CN" sz="1400" dirty="0"/>
          </a:p>
        </p:txBody>
      </p:sp>
      <p:sp>
        <p:nvSpPr>
          <p:cNvPr id="40" name="流程图: 磁盘 39"/>
          <p:cNvSpPr/>
          <p:nvPr/>
        </p:nvSpPr>
        <p:spPr>
          <a:xfrm rot="1662077">
            <a:off x="11205318" y="2139407"/>
            <a:ext cx="578829" cy="189264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2000610" y="205230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地点名称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956839" y="276638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地点名称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057735" y="31015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UI1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1595613" y="140934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UI2</a:t>
            </a:r>
            <a:endParaRPr lang="zh-CN" altLang="en-US" dirty="0"/>
          </a:p>
        </p:txBody>
      </p:sp>
      <p:sp>
        <p:nvSpPr>
          <p:cNvPr id="45" name="圆角矩形 41">
            <a:extLst>
              <a:ext uri="{FF2B5EF4-FFF2-40B4-BE49-F238E27FC236}">
                <a16:creationId xmlns:a16="http://schemas.microsoft.com/office/drawing/2014/main" id="{9BAD6F2D-3437-4507-977C-5E8BE199457D}"/>
              </a:ext>
            </a:extLst>
          </p:cNvPr>
          <p:cNvSpPr/>
          <p:nvPr/>
        </p:nvSpPr>
        <p:spPr>
          <a:xfrm>
            <a:off x="7618716" y="1786172"/>
            <a:ext cx="1476463" cy="2768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6600"/>
                </a:solidFill>
              </a:rPr>
              <a:t>区域污染等级：重度</a:t>
            </a:r>
          </a:p>
        </p:txBody>
      </p:sp>
      <p:sp>
        <p:nvSpPr>
          <p:cNvPr id="46" name="圆角矩形 41">
            <a:extLst>
              <a:ext uri="{FF2B5EF4-FFF2-40B4-BE49-F238E27FC236}">
                <a16:creationId xmlns:a16="http://schemas.microsoft.com/office/drawing/2014/main" id="{633E06C0-30DD-4440-B22C-72568B1047BA}"/>
              </a:ext>
            </a:extLst>
          </p:cNvPr>
          <p:cNvSpPr/>
          <p:nvPr/>
        </p:nvSpPr>
        <p:spPr>
          <a:xfrm>
            <a:off x="385894" y="684405"/>
            <a:ext cx="1476463" cy="2768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</a:rPr>
              <a:t>全局污染等级：中度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圆角矩形 53"/>
          <p:cNvSpPr/>
          <p:nvPr/>
        </p:nvSpPr>
        <p:spPr>
          <a:xfrm>
            <a:off x="2469247" y="3761379"/>
            <a:ext cx="1897835" cy="145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7682" y="4555438"/>
            <a:ext cx="63209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UI3</a:t>
            </a:r>
            <a:r>
              <a:rPr lang="zh-CN" altLang="en-US" sz="1400" dirty="0"/>
              <a:t>中配件列表、被动列表的</a:t>
            </a:r>
            <a:r>
              <a:rPr lang="en-US" altLang="zh-CN" sz="1400" dirty="0"/>
              <a:t>icon</a:t>
            </a:r>
            <a:r>
              <a:rPr lang="zh-CN" altLang="en-US" sz="1400" dirty="0"/>
              <a:t>（被动指科技处升级的那些），鼠标悬浮</a:t>
            </a:r>
            <a:br>
              <a:rPr lang="en-US" altLang="zh-CN" sz="1400" dirty="0"/>
            </a:br>
            <a:r>
              <a:rPr lang="zh-CN" altLang="en-US" sz="1400" dirty="0"/>
              <a:t>可以弹出悬浮窗查看对应信息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处于</a:t>
            </a:r>
            <a:r>
              <a:rPr lang="en-US" altLang="zh-CN" sz="1400" dirty="0"/>
              <a:t>UI2</a:t>
            </a:r>
            <a:r>
              <a:rPr lang="zh-CN" altLang="en-US" sz="1400" dirty="0"/>
              <a:t>、</a:t>
            </a:r>
            <a:r>
              <a:rPr lang="en-US" altLang="zh-CN" sz="1400" dirty="0"/>
              <a:t>UI3</a:t>
            </a:r>
            <a:r>
              <a:rPr lang="zh-CN" altLang="en-US" sz="1400" dirty="0"/>
              <a:t>时，任务处理暂停（战斗暂停）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区域污染值实时计算更新，且会实时影响当前出现的任务怪物强度</a:t>
            </a:r>
            <a:endParaRPr lang="en-US" altLang="zh-CN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区域污染值机制</a:t>
            </a:r>
            <a:r>
              <a:rPr lang="zh-CN" altLang="en-US" sz="1400" b="1" dirty="0"/>
              <a:t>详见策划案</a:t>
            </a:r>
            <a:endParaRPr lang="en-US" altLang="zh-CN" sz="1400" b="1" dirty="0"/>
          </a:p>
        </p:txBody>
      </p:sp>
      <p:sp>
        <p:nvSpPr>
          <p:cNvPr id="10" name="矩形 9"/>
          <p:cNvSpPr/>
          <p:nvPr/>
        </p:nvSpPr>
        <p:spPr>
          <a:xfrm>
            <a:off x="0" y="33160"/>
            <a:ext cx="30701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任务中界面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1327" y="24242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11" name="矩形 10"/>
          <p:cNvSpPr/>
          <p:nvPr/>
        </p:nvSpPr>
        <p:spPr>
          <a:xfrm>
            <a:off x="385894" y="679491"/>
            <a:ext cx="6308521" cy="35066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537073" y="3325768"/>
            <a:ext cx="2332972" cy="10536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数值信息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259979" y="30049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487556" y="31205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31" name="矩形 30"/>
          <p:cNvSpPr/>
          <p:nvPr/>
        </p:nvSpPr>
        <p:spPr>
          <a:xfrm>
            <a:off x="7628917" y="3116828"/>
            <a:ext cx="4501326" cy="25882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6057735" y="31015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UI1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1538803" y="287623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UI3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9204830" y="766033"/>
            <a:ext cx="1510031" cy="1576857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继续任务</a:t>
            </a:r>
            <a:endParaRPr lang="en-US" altLang="zh-CN" sz="1200" dirty="0"/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放弃任务</a:t>
            </a:r>
            <a:endParaRPr lang="en-US" altLang="zh-CN" sz="1200" dirty="0"/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设置</a:t>
            </a:r>
            <a:endParaRPr lang="en-US" altLang="zh-CN" sz="1200" dirty="0"/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返回主界面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259979" y="1664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48" name="矩形 47"/>
          <p:cNvSpPr/>
          <p:nvPr/>
        </p:nvSpPr>
        <p:spPr>
          <a:xfrm>
            <a:off x="7628917" y="278358"/>
            <a:ext cx="4501326" cy="25882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1556056" y="-3681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UI2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11" idx="3"/>
            <a:endCxn id="48" idx="1"/>
          </p:cNvCxnSpPr>
          <p:nvPr/>
        </p:nvCxnSpPr>
        <p:spPr>
          <a:xfrm flipV="1">
            <a:off x="6694415" y="1572460"/>
            <a:ext cx="934502" cy="86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1" idx="3"/>
            <a:endCxn id="31" idx="1"/>
          </p:cNvCxnSpPr>
          <p:nvPr/>
        </p:nvCxnSpPr>
        <p:spPr>
          <a:xfrm>
            <a:off x="6694415" y="2432799"/>
            <a:ext cx="934502" cy="1978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947833" y="1633297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ESC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6937613" y="332576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TAB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7867467" y="4379416"/>
            <a:ext cx="3011514" cy="11932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配件列表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508439" y="33457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52" name="矩形 51"/>
          <p:cNvSpPr/>
          <p:nvPr/>
        </p:nvSpPr>
        <p:spPr>
          <a:xfrm>
            <a:off x="10878981" y="4379417"/>
            <a:ext cx="991064" cy="11932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被动列表</a:t>
            </a:r>
          </a:p>
        </p:txBody>
      </p:sp>
      <p:sp>
        <p:nvSpPr>
          <p:cNvPr id="53" name="矩形 52"/>
          <p:cNvSpPr/>
          <p:nvPr/>
        </p:nvSpPr>
        <p:spPr>
          <a:xfrm>
            <a:off x="7867467" y="3327090"/>
            <a:ext cx="1669606" cy="10523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5" name="圆角矩形 54"/>
          <p:cNvSpPr/>
          <p:nvPr/>
        </p:nvSpPr>
        <p:spPr>
          <a:xfrm>
            <a:off x="8081197" y="3464835"/>
            <a:ext cx="1291756" cy="6247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车型预览图</a:t>
            </a:r>
          </a:p>
        </p:txBody>
      </p:sp>
      <p:sp>
        <p:nvSpPr>
          <p:cNvPr id="56" name="矩形 55"/>
          <p:cNvSpPr/>
          <p:nvPr/>
        </p:nvSpPr>
        <p:spPr>
          <a:xfrm>
            <a:off x="7978629" y="3943369"/>
            <a:ext cx="323802" cy="3643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主武</a:t>
            </a:r>
          </a:p>
        </p:txBody>
      </p:sp>
      <p:sp>
        <p:nvSpPr>
          <p:cNvPr id="57" name="矩形 56"/>
          <p:cNvSpPr/>
          <p:nvPr/>
        </p:nvSpPr>
        <p:spPr>
          <a:xfrm>
            <a:off x="9166490" y="3943369"/>
            <a:ext cx="341949" cy="3867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装甲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22857" y="358427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能量（经验值）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369108" y="3715708"/>
            <a:ext cx="221966" cy="1984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20" name="直接箭头连接符 19"/>
          <p:cNvCxnSpPr>
            <a:stCxn id="17" idx="3"/>
            <a:endCxn id="21" idx="2"/>
          </p:cNvCxnSpPr>
          <p:nvPr/>
        </p:nvCxnSpPr>
        <p:spPr>
          <a:xfrm flipV="1">
            <a:off x="4591074" y="3168585"/>
            <a:ext cx="357647" cy="64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497315" y="286080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强化等级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4496174" y="679490"/>
            <a:ext cx="2198241" cy="28805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当前目标：</a:t>
            </a:r>
            <a:r>
              <a:rPr lang="en-US" altLang="zh-CN" dirty="0">
                <a:solidFill>
                  <a:schemeClr val="tx1"/>
                </a:solidFill>
              </a:rPr>
              <a:t>XXXX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395984" y="696727"/>
            <a:ext cx="1476463" cy="2768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6600"/>
                </a:solidFill>
              </a:rPr>
              <a:t>区域污染等级：重度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835350" y="69630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污染条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2469247" y="3909252"/>
            <a:ext cx="2075040" cy="2768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装甲耐久（生命值）</a:t>
            </a:r>
          </a:p>
        </p:txBody>
      </p:sp>
      <p:sp>
        <p:nvSpPr>
          <p:cNvPr id="35" name="弦形 34"/>
          <p:cNvSpPr/>
          <p:nvPr/>
        </p:nvSpPr>
        <p:spPr>
          <a:xfrm rot="6686399">
            <a:off x="1714552" y="3618422"/>
            <a:ext cx="821141" cy="816456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834242" y="376783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icon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圆角矩形 53"/>
          <p:cNvSpPr/>
          <p:nvPr/>
        </p:nvSpPr>
        <p:spPr>
          <a:xfrm>
            <a:off x="2469247" y="3761379"/>
            <a:ext cx="1897835" cy="145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7682" y="4555438"/>
            <a:ext cx="48397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注：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能量满自动升级。升级时，任务处理暂停（战斗暂停）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endParaRPr lang="en-US" altLang="zh-CN" sz="1400" dirty="0"/>
          </a:p>
        </p:txBody>
      </p:sp>
      <p:sp>
        <p:nvSpPr>
          <p:cNvPr id="10" name="矩形 9"/>
          <p:cNvSpPr/>
          <p:nvPr/>
        </p:nvSpPr>
        <p:spPr>
          <a:xfrm>
            <a:off x="0" y="33160"/>
            <a:ext cx="39931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任务中升级界面</a:t>
            </a:r>
            <a:endParaRPr lang="zh-CN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5894" y="679491"/>
            <a:ext cx="6308521" cy="35066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537073" y="3325768"/>
            <a:ext cx="2332972" cy="10536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数值信息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259979" y="30049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487556" y="31205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上一车型</a:t>
            </a:r>
          </a:p>
        </p:txBody>
      </p:sp>
      <p:sp>
        <p:nvSpPr>
          <p:cNvPr id="31" name="矩形 30"/>
          <p:cNvSpPr/>
          <p:nvPr/>
        </p:nvSpPr>
        <p:spPr>
          <a:xfrm>
            <a:off x="7628917" y="3116828"/>
            <a:ext cx="4501326" cy="25882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6057735" y="31015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UI1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1538803" y="287623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UI3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9204830" y="766033"/>
            <a:ext cx="1510031" cy="1576857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继续任务</a:t>
            </a:r>
            <a:endParaRPr lang="en-US" altLang="zh-CN" sz="1200" dirty="0"/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放弃任务</a:t>
            </a:r>
            <a:endParaRPr lang="en-US" altLang="zh-CN" sz="1200" dirty="0"/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设置</a:t>
            </a:r>
            <a:endParaRPr lang="en-US" altLang="zh-CN" sz="1200" dirty="0"/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返回主界面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259979" y="1664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下一车型</a:t>
            </a:r>
          </a:p>
        </p:txBody>
      </p:sp>
      <p:sp>
        <p:nvSpPr>
          <p:cNvPr id="48" name="矩形 47"/>
          <p:cNvSpPr/>
          <p:nvPr/>
        </p:nvSpPr>
        <p:spPr>
          <a:xfrm>
            <a:off x="7628917" y="278358"/>
            <a:ext cx="4501326" cy="25882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1556056" y="-3681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UI2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11" idx="3"/>
            <a:endCxn id="48" idx="1"/>
          </p:cNvCxnSpPr>
          <p:nvPr/>
        </p:nvCxnSpPr>
        <p:spPr>
          <a:xfrm flipV="1">
            <a:off x="6694415" y="1572460"/>
            <a:ext cx="934502" cy="86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1" idx="3"/>
            <a:endCxn id="31" idx="1"/>
          </p:cNvCxnSpPr>
          <p:nvPr/>
        </p:nvCxnSpPr>
        <p:spPr>
          <a:xfrm>
            <a:off x="6694415" y="2432799"/>
            <a:ext cx="934502" cy="1978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947833" y="1633297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ESC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6937613" y="332576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TAB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9508439" y="33457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车型名称</a:t>
            </a:r>
          </a:p>
        </p:txBody>
      </p:sp>
      <p:sp>
        <p:nvSpPr>
          <p:cNvPr id="53" name="矩形 52"/>
          <p:cNvSpPr/>
          <p:nvPr/>
        </p:nvSpPr>
        <p:spPr>
          <a:xfrm>
            <a:off x="7867467" y="3327090"/>
            <a:ext cx="1669606" cy="10523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5" name="圆角矩形 54"/>
          <p:cNvSpPr/>
          <p:nvPr/>
        </p:nvSpPr>
        <p:spPr>
          <a:xfrm>
            <a:off x="8081197" y="3464835"/>
            <a:ext cx="1291756" cy="6247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车型预览图</a:t>
            </a:r>
          </a:p>
        </p:txBody>
      </p:sp>
      <p:sp>
        <p:nvSpPr>
          <p:cNvPr id="56" name="矩形 55"/>
          <p:cNvSpPr/>
          <p:nvPr/>
        </p:nvSpPr>
        <p:spPr>
          <a:xfrm>
            <a:off x="7978629" y="3943369"/>
            <a:ext cx="323802" cy="3643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主武</a:t>
            </a:r>
          </a:p>
        </p:txBody>
      </p:sp>
      <p:sp>
        <p:nvSpPr>
          <p:cNvPr id="57" name="矩形 56"/>
          <p:cNvSpPr/>
          <p:nvPr/>
        </p:nvSpPr>
        <p:spPr>
          <a:xfrm>
            <a:off x="9166490" y="3943369"/>
            <a:ext cx="341949" cy="3867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装甲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22857" y="358427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能量（经验值）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369108" y="3715708"/>
            <a:ext cx="221966" cy="1984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4496174" y="679490"/>
            <a:ext cx="2198241" cy="28805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当前目标：</a:t>
            </a:r>
            <a:r>
              <a:rPr lang="en-US" altLang="zh-CN" dirty="0">
                <a:solidFill>
                  <a:schemeClr val="tx1"/>
                </a:solidFill>
              </a:rPr>
              <a:t>XXXX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2469247" y="3909252"/>
            <a:ext cx="2075040" cy="2768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装甲耐久（生命值）</a:t>
            </a:r>
          </a:p>
        </p:txBody>
      </p:sp>
      <p:sp>
        <p:nvSpPr>
          <p:cNvPr id="35" name="弦形 34"/>
          <p:cNvSpPr/>
          <p:nvPr/>
        </p:nvSpPr>
        <p:spPr>
          <a:xfrm rot="6686399">
            <a:off x="1714552" y="3618422"/>
            <a:ext cx="821141" cy="816456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834242" y="376783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icon</a:t>
            </a:r>
            <a:endParaRPr lang="zh-CN" altLang="en-US" dirty="0"/>
          </a:p>
        </p:txBody>
      </p:sp>
      <p:sp>
        <p:nvSpPr>
          <p:cNvPr id="2" name="圆角矩形 1"/>
          <p:cNvSpPr/>
          <p:nvPr/>
        </p:nvSpPr>
        <p:spPr>
          <a:xfrm>
            <a:off x="1031212" y="1360390"/>
            <a:ext cx="1328344" cy="214481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145917" y="1619912"/>
            <a:ext cx="508416" cy="340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icon</a:t>
            </a:r>
            <a:endParaRPr lang="zh-CN" altLang="en-US" sz="1050" dirty="0"/>
          </a:p>
        </p:txBody>
      </p:sp>
      <p:sp>
        <p:nvSpPr>
          <p:cNvPr id="6" name="文本框 5"/>
          <p:cNvSpPr txBox="1"/>
          <p:nvPr/>
        </p:nvSpPr>
        <p:spPr>
          <a:xfrm>
            <a:off x="1619439" y="1491991"/>
            <a:ext cx="7704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name</a:t>
            </a:r>
          </a:p>
          <a:p>
            <a:r>
              <a:rPr lang="en-US" altLang="zh-CN" sz="1200" dirty="0"/>
              <a:t>lv1</a:t>
            </a:r>
            <a:endParaRPr lang="zh-CN" altLang="en-US" sz="1200" dirty="0"/>
          </a:p>
        </p:txBody>
      </p:sp>
      <p:sp>
        <p:nvSpPr>
          <p:cNvPr id="41" name="文本框 40"/>
          <p:cNvSpPr txBox="1"/>
          <p:nvPr/>
        </p:nvSpPr>
        <p:spPr>
          <a:xfrm>
            <a:off x="1100837" y="2063466"/>
            <a:ext cx="135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description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428782" y="1312972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FF00"/>
                </a:solidFill>
              </a:rPr>
              <a:t>New</a:t>
            </a:r>
            <a:r>
              <a:rPr lang="zh-CN" altLang="en-US" sz="1400" dirty="0">
                <a:solidFill>
                  <a:srgbClr val="FFFF00"/>
                </a:solidFill>
              </a:rPr>
              <a:t>！</a:t>
            </a:r>
          </a:p>
        </p:txBody>
      </p:sp>
      <p:sp>
        <p:nvSpPr>
          <p:cNvPr id="58" name="圆角矩形 57"/>
          <p:cNvSpPr/>
          <p:nvPr/>
        </p:nvSpPr>
        <p:spPr>
          <a:xfrm>
            <a:off x="2819790" y="1377314"/>
            <a:ext cx="1328344" cy="214481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2934495" y="1636836"/>
            <a:ext cx="508416" cy="340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icon</a:t>
            </a:r>
            <a:endParaRPr lang="zh-CN" altLang="en-US" sz="1050" dirty="0"/>
          </a:p>
        </p:txBody>
      </p:sp>
      <p:sp>
        <p:nvSpPr>
          <p:cNvPr id="61" name="文本框 60"/>
          <p:cNvSpPr txBox="1"/>
          <p:nvPr/>
        </p:nvSpPr>
        <p:spPr>
          <a:xfrm>
            <a:off x="2889415" y="2080390"/>
            <a:ext cx="135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description</a:t>
            </a:r>
            <a:endParaRPr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3076941" y="1312972"/>
            <a:ext cx="835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/>
                </a:solidFill>
              </a:rPr>
              <a:t>upgrade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421205" y="1498169"/>
            <a:ext cx="7704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name</a:t>
            </a:r>
          </a:p>
          <a:p>
            <a:r>
              <a:rPr lang="en-US" altLang="zh-CN" sz="1200" dirty="0"/>
              <a:t>lv1-&gt;lv2</a:t>
            </a:r>
            <a:endParaRPr lang="zh-CN" altLang="en-US" sz="1200" dirty="0"/>
          </a:p>
        </p:txBody>
      </p:sp>
      <p:sp>
        <p:nvSpPr>
          <p:cNvPr id="64" name="圆角矩形 63"/>
          <p:cNvSpPr/>
          <p:nvPr/>
        </p:nvSpPr>
        <p:spPr>
          <a:xfrm>
            <a:off x="4582061" y="1377314"/>
            <a:ext cx="1328344" cy="214481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圆角矩形 64"/>
          <p:cNvSpPr/>
          <p:nvPr/>
        </p:nvSpPr>
        <p:spPr>
          <a:xfrm>
            <a:off x="4696766" y="1636836"/>
            <a:ext cx="508416" cy="340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icon</a:t>
            </a:r>
            <a:endParaRPr lang="zh-CN" altLang="en-US" sz="1050" dirty="0"/>
          </a:p>
        </p:txBody>
      </p:sp>
      <p:sp>
        <p:nvSpPr>
          <p:cNvPr id="66" name="文本框 65"/>
          <p:cNvSpPr txBox="1"/>
          <p:nvPr/>
        </p:nvSpPr>
        <p:spPr>
          <a:xfrm>
            <a:off x="4651686" y="2080390"/>
            <a:ext cx="135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description</a:t>
            </a:r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>
          <a:xfrm>
            <a:off x="4839212" y="1312972"/>
            <a:ext cx="835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/>
                </a:solidFill>
              </a:rPr>
              <a:t>upgrade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183476" y="1498169"/>
            <a:ext cx="7704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name</a:t>
            </a:r>
          </a:p>
          <a:p>
            <a:r>
              <a:rPr lang="en-US" altLang="zh-CN" sz="1200" dirty="0"/>
              <a:t>lv1-&gt;lv2</a:t>
            </a:r>
            <a:endParaRPr lang="zh-CN" altLang="en-US" sz="1200" dirty="0"/>
          </a:p>
        </p:txBody>
      </p:sp>
      <p:sp>
        <p:nvSpPr>
          <p:cNvPr id="69" name="圆角矩形 68"/>
          <p:cNvSpPr/>
          <p:nvPr/>
        </p:nvSpPr>
        <p:spPr>
          <a:xfrm>
            <a:off x="395984" y="696727"/>
            <a:ext cx="1476463" cy="2768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FF6600"/>
                </a:solidFill>
              </a:rPr>
              <a:t>区域污染等级：重度</a:t>
            </a:r>
          </a:p>
        </p:txBody>
      </p:sp>
      <p:sp>
        <p:nvSpPr>
          <p:cNvPr id="60" name="矩形 59"/>
          <p:cNvSpPr/>
          <p:nvPr/>
        </p:nvSpPr>
        <p:spPr>
          <a:xfrm>
            <a:off x="7867467" y="4379416"/>
            <a:ext cx="3011514" cy="11932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配件列表</a:t>
            </a:r>
          </a:p>
        </p:txBody>
      </p:sp>
      <p:sp>
        <p:nvSpPr>
          <p:cNvPr id="70" name="矩形 69"/>
          <p:cNvSpPr/>
          <p:nvPr/>
        </p:nvSpPr>
        <p:spPr>
          <a:xfrm>
            <a:off x="10878981" y="4379417"/>
            <a:ext cx="991064" cy="11932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被动列表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1179</Words>
  <Application>Microsoft Office PowerPoint</Application>
  <PresentationFormat>宽屏</PresentationFormat>
  <Paragraphs>244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Ying Yufeng</cp:lastModifiedBy>
  <cp:revision>60</cp:revision>
  <dcterms:created xsi:type="dcterms:W3CDTF">2025-07-09T22:13:00Z</dcterms:created>
  <dcterms:modified xsi:type="dcterms:W3CDTF">2025-10-22T16:02:03Z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47D3F4C2BFD048A4B277B9CFF9CA4289_12</vt:lpwstr>
  </property>
  <property fmtid="{D5CDD505-2E9C-101B-9397-08002B2CF9AE}" pid="3" name="KSOProductBuildVer">
    <vt:lpwstr>2052-12.1.0.22529</vt:lpwstr>
  </property>
</Properties>
</file>